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95" d="100"/>
          <a:sy n="95" d="100"/>
        </p:scale>
        <p:origin x="-178" y="9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61867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6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0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33172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ShareBoard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868680" y="35204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Resource-Matching Platform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8680" y="40690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9FB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urgent needs with surplus — before it’s too late.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68680" y="6035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C90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Demo  •  Dev10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332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7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Good will and good timing rarely meet.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169164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Riverside Shelter: it runs out of fresh produce and dairy most weeks — and canned goods on a shelf two towns over don’t help if nobody knows to bring them over before they spoil.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22960" y="274320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/home/claude/icons/peo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229" y="2836469"/>
            <a:ext cx="590702" cy="5907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703320"/>
            <a:ext cx="34015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7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shelter needs food today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4343400"/>
            <a:ext cx="3401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Riverside Shelter is out of perishables — produce, dairy, bread. It needs them in days, not weeks.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480560" y="274320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0" name="Image 1" descr="/home/claude/icons/box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3829" y="2836469"/>
            <a:ext cx="590702" cy="59070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480560" y="3703320"/>
            <a:ext cx="34015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7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market has surplus nearby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480560" y="4343400"/>
            <a:ext cx="3401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Corner Market has fresh stock nearing its sell-by date — still good, soon to be wasted.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8138160" y="2743200"/>
            <a:ext cx="777240" cy="7772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4" name="Image 2" descr="/home/claude/icons/hourglas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31429" y="2836469"/>
            <a:ext cx="590702" cy="59070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138160" y="3703320"/>
            <a:ext cx="34015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7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But nothing connects them in time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8138160" y="4343400"/>
            <a:ext cx="3401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system, that match never happens before the food spoils or the shelf clears.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ShareBoard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7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ShareBoard closes that gap automatically.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2331720"/>
            <a:ext cx="658368" cy="65836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/home/claude/icons/lin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964" y="2410724"/>
            <a:ext cx="500360" cy="500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37360" y="2304288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Matches needs to surplus, automatically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737360" y="2660904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listing is checked against the opposite side the moment it’s posted — no manual searching.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22960" y="3630168"/>
            <a:ext cx="658368" cy="65836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9" name="Image 1" descr="/home/claude/icons/calend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964" y="3709172"/>
            <a:ext cx="500360" cy="5003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737360" y="3602736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Deadline-aware, not just first-come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1737360" y="3959352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match only happens if the surplus can actually arrive in time. Good intentions that arrive too late don’t count as a match.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822960" y="4928616"/>
            <a:ext cx="658368" cy="65836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3" name="Image 2" descr="/home/claude/icons/bol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964" y="5007620"/>
            <a:ext cx="500360" cy="5003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737360" y="4901184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— the instant it happens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1737360" y="5257800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feed updates in real time over WebSockets. No refresh, no polling, no delay.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ShareBoard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1732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0" b="1" dirty="0">
                <a:solidFill>
                  <a:srgbClr val="17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</a:t>
            </a:r>
            <a:endParaRPr lang="en-US" sz="9200" dirty="0"/>
          </a:p>
        </p:txBody>
      </p:sp>
      <p:sp>
        <p:nvSpPr>
          <p:cNvPr id="3" name="Text 1"/>
          <p:cNvSpPr/>
          <p:nvPr/>
        </p:nvSpPr>
        <p:spPr>
          <a:xfrm>
            <a:off x="868680" y="3246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walkthrough of the core user stories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68680" y="416052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/home/claude/icons/fla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517" y="4226357"/>
            <a:ext cx="416966" cy="41696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418795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7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from the About page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868680" y="493776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8" name="Image 1" descr="/home/claude/icons/window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517" y="5003597"/>
            <a:ext cx="416966" cy="41696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00200" y="496519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7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browser tabs, two organizations, one live feed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ShareBoard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7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on the core curriculum stack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2331720"/>
            <a:ext cx="3246120" cy="1737360"/>
          </a:xfrm>
          <a:prstGeom prst="roundRect">
            <a:avLst>
              <a:gd name="adj" fmla="val 4211"/>
            </a:avLst>
          </a:prstGeom>
          <a:solidFill>
            <a:srgbClr val="F5F8F8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" y="281178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/home/claude/icons/jav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6269" y="2905049"/>
            <a:ext cx="590702" cy="5907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03120" y="2331720"/>
            <a:ext cx="1783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 21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4389120" y="2331720"/>
            <a:ext cx="3246120" cy="1737360"/>
          </a:xfrm>
          <a:prstGeom prst="roundRect">
            <a:avLst>
              <a:gd name="adj" fmla="val 4211"/>
            </a:avLst>
          </a:prstGeom>
          <a:solidFill>
            <a:srgbClr val="F5F8F8"/>
          </a:solidFill>
          <a:ln/>
        </p:spPr>
      </p:sp>
      <p:sp>
        <p:nvSpPr>
          <p:cNvPr id="9" name="Shape 6"/>
          <p:cNvSpPr/>
          <p:nvPr/>
        </p:nvSpPr>
        <p:spPr>
          <a:xfrm>
            <a:off x="4709160" y="281178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0" name="Image 1" descr="/home/claude/icons/spr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2429" y="2905049"/>
            <a:ext cx="590702" cy="59070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669280" y="2331720"/>
            <a:ext cx="1783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Spring Boot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7955280" y="2331720"/>
            <a:ext cx="3246120" cy="1737360"/>
          </a:xfrm>
          <a:prstGeom prst="roundRect">
            <a:avLst>
              <a:gd name="adj" fmla="val 4211"/>
            </a:avLst>
          </a:prstGeom>
          <a:solidFill>
            <a:srgbClr val="F5F8F8"/>
          </a:solidFill>
          <a:ln/>
        </p:spPr>
      </p:sp>
      <p:sp>
        <p:nvSpPr>
          <p:cNvPr id="13" name="Shape 9"/>
          <p:cNvSpPr/>
          <p:nvPr/>
        </p:nvSpPr>
        <p:spPr>
          <a:xfrm>
            <a:off x="8275320" y="281178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4" name="Image 2" descr="/home/claude/icons/mysq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8589" y="2905049"/>
            <a:ext cx="590702" cy="59070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235440" y="2331720"/>
            <a:ext cx="1783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MySQL</a:t>
            </a:r>
            <a:endParaRPr lang="en-US" sz="1700" dirty="0"/>
          </a:p>
        </p:txBody>
      </p:sp>
      <p:sp>
        <p:nvSpPr>
          <p:cNvPr id="16" name="Shape 11"/>
          <p:cNvSpPr/>
          <p:nvPr/>
        </p:nvSpPr>
        <p:spPr>
          <a:xfrm>
            <a:off x="822960" y="4389120"/>
            <a:ext cx="3246120" cy="1737360"/>
          </a:xfrm>
          <a:prstGeom prst="roundRect">
            <a:avLst>
              <a:gd name="adj" fmla="val 4211"/>
            </a:avLst>
          </a:prstGeom>
          <a:solidFill>
            <a:srgbClr val="F5F8F8"/>
          </a:solidFill>
          <a:ln/>
        </p:spPr>
      </p:sp>
      <p:sp>
        <p:nvSpPr>
          <p:cNvPr id="17" name="Shape 12"/>
          <p:cNvSpPr/>
          <p:nvPr/>
        </p:nvSpPr>
        <p:spPr>
          <a:xfrm>
            <a:off x="1143000" y="486918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8" name="Image 3" descr="/home/claude/icons/reac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6269" y="4962449"/>
            <a:ext cx="590702" cy="59070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2103120" y="4389120"/>
            <a:ext cx="1783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</a:t>
            </a:r>
            <a:endParaRPr lang="en-US" sz="1700" dirty="0"/>
          </a:p>
        </p:txBody>
      </p:sp>
      <p:sp>
        <p:nvSpPr>
          <p:cNvPr id="20" name="Shape 14"/>
          <p:cNvSpPr/>
          <p:nvPr/>
        </p:nvSpPr>
        <p:spPr>
          <a:xfrm>
            <a:off x="4389120" y="4389120"/>
            <a:ext cx="3246120" cy="1737360"/>
          </a:xfrm>
          <a:prstGeom prst="roundRect">
            <a:avLst>
              <a:gd name="adj" fmla="val 4211"/>
            </a:avLst>
          </a:prstGeom>
          <a:solidFill>
            <a:srgbClr val="F5F8F8"/>
          </a:solidFill>
          <a:ln/>
        </p:spPr>
      </p:sp>
      <p:sp>
        <p:nvSpPr>
          <p:cNvPr id="21" name="Shape 15"/>
          <p:cNvSpPr/>
          <p:nvPr/>
        </p:nvSpPr>
        <p:spPr>
          <a:xfrm>
            <a:off x="4709160" y="486918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2" name="Image 4" descr="/home/claude/icons/juni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02429" y="4962449"/>
            <a:ext cx="590702" cy="59070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669280" y="4389120"/>
            <a:ext cx="1783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JUnit 5</a:t>
            </a:r>
            <a:endParaRPr lang="en-US" sz="1700" dirty="0"/>
          </a:p>
        </p:txBody>
      </p:sp>
      <p:sp>
        <p:nvSpPr>
          <p:cNvPr id="24" name="Shape 17"/>
          <p:cNvSpPr/>
          <p:nvPr/>
        </p:nvSpPr>
        <p:spPr>
          <a:xfrm>
            <a:off x="7955280" y="4389120"/>
            <a:ext cx="3246120" cy="1737360"/>
          </a:xfrm>
          <a:prstGeom prst="roundRect">
            <a:avLst>
              <a:gd name="adj" fmla="val 4211"/>
            </a:avLst>
          </a:prstGeom>
          <a:solidFill>
            <a:srgbClr val="F5F8F8"/>
          </a:solidFill>
          <a:ln/>
        </p:spPr>
      </p:sp>
      <p:sp>
        <p:nvSpPr>
          <p:cNvPr id="25" name="Shape 18"/>
          <p:cNvSpPr/>
          <p:nvPr/>
        </p:nvSpPr>
        <p:spPr>
          <a:xfrm>
            <a:off x="8275320" y="486918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6" name="Image 5" descr="/home/claude/icons/mave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68589" y="4962449"/>
            <a:ext cx="590702" cy="59070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9235440" y="4389120"/>
            <a:ext cx="1783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Maven</a:t>
            </a:r>
            <a:endParaRPr lang="en-US" sz="1700" dirty="0"/>
          </a:p>
        </p:txBody>
      </p:sp>
      <p:sp>
        <p:nvSpPr>
          <p:cNvPr id="28" name="Text 20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ShareBoard</a:t>
            </a:r>
            <a:endParaRPr lang="en-US" sz="1000" dirty="0"/>
          </a:p>
        </p:txBody>
      </p:sp>
      <p:sp>
        <p:nvSpPr>
          <p:cNvPr id="29" name="Text 21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7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Beyond the curriculum: real-time updates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1188720" cy="11887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5" name="Image 0" descr="/home/claude/icons/broadca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06" y="2108606"/>
            <a:ext cx="903427" cy="90342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331720" y="201168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WebSockets (STOMP)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2331720" y="2487168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stretch goal — an MVP requirement. The moment a match happens, the server pushes the update itself. No tab has to ask for it.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822960" y="3429000"/>
            <a:ext cx="4892040" cy="2148840"/>
          </a:xfrm>
          <a:prstGeom prst="roundRect">
            <a:avLst>
              <a:gd name="adj" fmla="val 3404"/>
            </a:avLst>
          </a:prstGeom>
          <a:solidFill>
            <a:srgbClr val="F7F3F2"/>
          </a:solidFill>
          <a:ln/>
        </p:spPr>
      </p:sp>
      <p:sp>
        <p:nvSpPr>
          <p:cNvPr id="9" name="Shape 6"/>
          <p:cNvSpPr/>
          <p:nvPr/>
        </p:nvSpPr>
        <p:spPr>
          <a:xfrm>
            <a:off x="1097280" y="3685032"/>
            <a:ext cx="548640" cy="548640"/>
          </a:xfrm>
          <a:prstGeom prst="ellipse">
            <a:avLst/>
          </a:prstGeom>
          <a:solidFill>
            <a:srgbClr val="B8564A"/>
          </a:solidFill>
          <a:ln/>
        </p:spPr>
      </p:sp>
      <p:pic>
        <p:nvPicPr>
          <p:cNvPr id="10" name="Image 1" descr="/home/claude/icons/refres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3117" y="3750869"/>
            <a:ext cx="416966" cy="41696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828800" y="370332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Without a live push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097280" y="4389120"/>
            <a:ext cx="4343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a listing → the match happens on the server → you find out only if you refresh, or poll again and again, and hope you catch it.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217920" y="3429000"/>
            <a:ext cx="4892040" cy="2148840"/>
          </a:xfrm>
          <a:prstGeom prst="roundRect">
            <a:avLst>
              <a:gd name="adj" fmla="val 3404"/>
            </a:avLst>
          </a:prstGeom>
          <a:solidFill>
            <a:srgbClr val="EAF7F2"/>
          </a:solidFill>
          <a:ln/>
        </p:spPr>
      </p:sp>
      <p:sp>
        <p:nvSpPr>
          <p:cNvPr id="14" name="Shape 10"/>
          <p:cNvSpPr/>
          <p:nvPr/>
        </p:nvSpPr>
        <p:spPr>
          <a:xfrm>
            <a:off x="6492240" y="3685032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5" name="Image 2" descr="/home/claude/icons/bol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8077" y="3750869"/>
            <a:ext cx="416966" cy="41696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223760" y="370332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STOMP over WebSocket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6492240" y="4389120"/>
            <a:ext cx="4343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E5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a listing → the match happens on the server → the server pushes it straight to /topic/listings/{categoryId} → every open tab updates itself instantly.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5715000" y="425196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9" name="Image 3" descr="/home/claude/icons/lin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75350" y="4312310"/>
            <a:ext cx="382219" cy="382219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ShareBoard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crossing check: real eligibility, not just priority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468880"/>
            <a:ext cx="4206240" cy="1600200"/>
          </a:xfrm>
          <a:prstGeom prst="roundRect">
            <a:avLst>
              <a:gd name="adj" fmla="val 4571"/>
            </a:avLst>
          </a:prstGeom>
          <a:solidFill>
            <a:srgbClr val="F5F8F8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2651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303580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Blankets — neededBy Aug 29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3520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Riverside Shelter · HIGH urgency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178040" y="2468880"/>
            <a:ext cx="4206240" cy="1600200"/>
          </a:xfrm>
          <a:prstGeom prst="roundRect">
            <a:avLst>
              <a:gd name="adj" fmla="val 4571"/>
            </a:avLst>
          </a:prstGeom>
          <a:solidFill>
            <a:srgbClr val="F5F8F8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52360" y="2651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SURPLUS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452360" y="303580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Blankets — available thru Sep 5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452360" y="3520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Corner Market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0" y="3268980"/>
            <a:ext cx="214884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783580" y="294894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4" name="Image 0" descr="/home/claude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0390" y="3025750"/>
            <a:ext cx="486461" cy="486461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822960" y="4434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2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surplus.availableUntil  ≥  need.neededBy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280160" y="50292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5 is on or after Aug 29 — the surplus can still arrive in time, so the match is eligible. If it couldn’t, the engine skips this candidate and tries the next-best one instead of giving up.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ShareBoard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7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Inside the matching engine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16002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priority queue per category, per side — needs ordered by urgency then wait time, surplus first-in-first-out.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10616" y="2331720"/>
            <a:ext cx="2450592" cy="1600200"/>
          </a:xfrm>
          <a:prstGeom prst="roundRect">
            <a:avLst>
              <a:gd name="adj" fmla="val 4571"/>
            </a:avLst>
          </a:prstGeom>
          <a:solidFill>
            <a:srgbClr val="F5F8F8"/>
          </a:solidFill>
          <a:ln/>
        </p:spPr>
      </p:sp>
      <p:sp>
        <p:nvSpPr>
          <p:cNvPr id="6" name="Shape 4"/>
          <p:cNvSpPr/>
          <p:nvPr/>
        </p:nvSpPr>
        <p:spPr>
          <a:xfrm>
            <a:off x="1011784" y="2532888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1011784" y="25328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11784" y="3063240"/>
            <a:ext cx="2048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Peek the best candidate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011784" y="3447288"/>
            <a:ext cx="2048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the top of the opposite queue — without removing it yet.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61208" y="3131820"/>
            <a:ext cx="256032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517240" y="2331720"/>
            <a:ext cx="2450592" cy="1600200"/>
          </a:xfrm>
          <a:prstGeom prst="roundRect">
            <a:avLst>
              <a:gd name="adj" fmla="val 4571"/>
            </a:avLst>
          </a:prstGeom>
          <a:solidFill>
            <a:srgbClr val="F5F8F8"/>
          </a:solidFill>
          <a:ln/>
        </p:spPr>
      </p:sp>
      <p:sp>
        <p:nvSpPr>
          <p:cNvPr id="12" name="Shape 10"/>
          <p:cNvSpPr/>
          <p:nvPr/>
        </p:nvSpPr>
        <p:spPr>
          <a:xfrm>
            <a:off x="3718408" y="2532888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3718408" y="25328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718408" y="3063240"/>
            <a:ext cx="2048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the crossing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718408" y="3447288"/>
            <a:ext cx="2048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surplus.availableUntil reach the need’s deadline?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967832" y="3131820"/>
            <a:ext cx="256032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223864" y="2331720"/>
            <a:ext cx="2450592" cy="1600200"/>
          </a:xfrm>
          <a:prstGeom prst="roundRect">
            <a:avLst>
              <a:gd name="adj" fmla="val 4571"/>
            </a:avLst>
          </a:prstGeom>
          <a:solidFill>
            <a:srgbClr val="F5F8F8"/>
          </a:solidFill>
          <a:ln/>
        </p:spPr>
      </p:sp>
      <p:sp>
        <p:nvSpPr>
          <p:cNvPr id="18" name="Shape 16"/>
          <p:cNvSpPr/>
          <p:nvPr/>
        </p:nvSpPr>
        <p:spPr>
          <a:xfrm>
            <a:off x="6425032" y="2532888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6425032" y="25328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25032" y="3063240"/>
            <a:ext cx="2048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 the overlap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425032" y="3447288"/>
            <a:ext cx="2048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min(remaining qty) on each side; update both listings.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674456" y="3131820"/>
            <a:ext cx="256032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930488" y="2331720"/>
            <a:ext cx="2450592" cy="1600200"/>
          </a:xfrm>
          <a:prstGeom prst="roundRect">
            <a:avLst>
              <a:gd name="adj" fmla="val 4571"/>
            </a:avLst>
          </a:prstGeom>
          <a:solidFill>
            <a:srgbClr val="F5F8F8"/>
          </a:solidFill>
          <a:ln/>
        </p:spPr>
      </p:sp>
      <p:sp>
        <p:nvSpPr>
          <p:cNvPr id="24" name="Shape 22"/>
          <p:cNvSpPr/>
          <p:nvPr/>
        </p:nvSpPr>
        <p:spPr>
          <a:xfrm>
            <a:off x="9131656" y="2532888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5" name="Text 23"/>
          <p:cNvSpPr/>
          <p:nvPr/>
        </p:nvSpPr>
        <p:spPr>
          <a:xfrm>
            <a:off x="9131656" y="25328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131656" y="3063240"/>
            <a:ext cx="2048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Push it live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9131656" y="3447288"/>
            <a:ext cx="2048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 the update over WebSocket — before moving on.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10616" y="4526280"/>
            <a:ext cx="10570464" cy="1234440"/>
          </a:xfrm>
          <a:prstGeom prst="roundRect">
            <a:avLst>
              <a:gd name="adj" fmla="val 5926"/>
            </a:avLst>
          </a:prstGeom>
          <a:solidFill>
            <a:srgbClr val="EAF7F2"/>
          </a:solidFill>
          <a:ln/>
        </p:spPr>
      </p:sp>
      <p:sp>
        <p:nvSpPr>
          <p:cNvPr id="29" name="Shape 27"/>
          <p:cNvSpPr/>
          <p:nvPr/>
        </p:nvSpPr>
        <p:spPr>
          <a:xfrm>
            <a:off x="1066648" y="482346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30" name="Image 0" descr="/home/claude/icons/lo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457" y="4900270"/>
            <a:ext cx="486461" cy="486461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1907896" y="4690872"/>
            <a:ext cx="9198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Skip-and-continue, not give-up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1907896" y="5074920"/>
            <a:ext cx="91988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E5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best candidate fails the deadline check, it’s set aside — not discarded — and the engine tries the next-best one. Only listings skipped for this incoming one go back into the queue afterward.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ShareBoard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7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listing becomes a live match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78028" y="251460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F5F8F8"/>
          </a:solidFill>
          <a:ln w="12700">
            <a:solidFill>
              <a:srgbClr val="E3E9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5188" y="28346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15188" y="329184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a listing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009748" y="3200400"/>
            <a:ext cx="50292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512668" y="251460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F5F8F8"/>
          </a:solidFill>
          <a:ln w="12700">
            <a:solidFill>
              <a:srgbClr val="E3E9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49828" y="28346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Spring Boot API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649828" y="329184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+ persist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844388" y="3200400"/>
            <a:ext cx="50292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347308" y="251460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6484468" y="28346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Matching Engine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84468" y="329184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E8F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queue + crossing check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679028" y="3200400"/>
            <a:ext cx="50292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181948" y="251460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F5F8F8"/>
          </a:solidFill>
          <a:ln w="12700">
            <a:solidFill>
              <a:srgbClr val="E3E9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19108" y="28346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MySQL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319108" y="329184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the result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513168" y="4389120"/>
            <a:ext cx="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dash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678028" y="4498848"/>
            <a:ext cx="10835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push — the moment a match happens, every open tab updates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ShareBoard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0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100584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What’s next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68680" y="2221992"/>
            <a:ext cx="91440" cy="914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203911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 smtClean="0">
                <a:solidFill>
                  <a:schemeClr val="bg1"/>
                </a:solidFill>
              </a:rPr>
              <a:t>Verified Users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868680" y="2724912"/>
            <a:ext cx="91440" cy="914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54203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 smtClean="0">
                <a:solidFill>
                  <a:schemeClr val="bg1"/>
                </a:solidFill>
              </a:rPr>
              <a:t>Build on the matching engine algorithm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1143000" y="304495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" y="354787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22960" y="4709160"/>
            <a:ext cx="10515600" cy="0"/>
          </a:xfrm>
          <a:prstGeom prst="line">
            <a:avLst/>
          </a:prstGeom>
          <a:noFill/>
          <a:ln w="12700">
            <a:solidFill>
              <a:srgbClr val="24414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5029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22960" y="5669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FB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C90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ShareBoard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90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668</Words>
  <Application>Microsoft Office PowerPoint</Application>
  <PresentationFormat>Custom</PresentationFormat>
  <Paragraphs>113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My Salvation Wasn't Cheap</cp:lastModifiedBy>
  <cp:revision>3</cp:revision>
  <dcterms:created xsi:type="dcterms:W3CDTF">2026-09-08T19:43:48Z</dcterms:created>
  <dcterms:modified xsi:type="dcterms:W3CDTF">2026-09-09T14:57:58Z</dcterms:modified>
</cp:coreProperties>
</file>